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nva Sans" panose="02020500000000000000" charset="0"/>
      <p:regular r:id="rId5"/>
    </p:embeddedFont>
    <p:embeddedFont>
      <p:font typeface="Neue Machina Ultra-Bold" panose="02020500000000000000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2A4p_ACAVg?feature=oembed" TargetMode="Externa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1630">
                <a:alpha val="100000"/>
              </a:srgbClr>
            </a:gs>
            <a:gs pos="100000">
              <a:srgbClr val="435CA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1976286" y="-1842670"/>
            <a:ext cx="14636372" cy="9154386"/>
          </a:xfrm>
          <a:custGeom>
            <a:avLst/>
            <a:gdLst/>
            <a:ahLst/>
            <a:cxnLst/>
            <a:rect l="l" t="t" r="r" b="b"/>
            <a:pathLst>
              <a:path w="14636372" h="9154386">
                <a:moveTo>
                  <a:pt x="0" y="9154385"/>
                </a:moveTo>
                <a:lnTo>
                  <a:pt x="14636373" y="9154385"/>
                </a:lnTo>
                <a:lnTo>
                  <a:pt x="14636373" y="0"/>
                </a:lnTo>
                <a:lnTo>
                  <a:pt x="0" y="0"/>
                </a:lnTo>
                <a:lnTo>
                  <a:pt x="0" y="9154385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8916879" y="-2119845"/>
            <a:ext cx="5722957" cy="5722957"/>
          </a:xfrm>
          <a:custGeom>
            <a:avLst/>
            <a:gdLst/>
            <a:ahLst/>
            <a:cxnLst/>
            <a:rect l="l" t="t" r="r" b="b"/>
            <a:pathLst>
              <a:path w="5722957" h="5722957">
                <a:moveTo>
                  <a:pt x="0" y="0"/>
                </a:moveTo>
                <a:lnTo>
                  <a:pt x="5722957" y="0"/>
                </a:lnTo>
                <a:lnTo>
                  <a:pt x="5722957" y="5722957"/>
                </a:lnTo>
                <a:lnTo>
                  <a:pt x="0" y="5722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1290840" y="-2119845"/>
            <a:ext cx="9708736" cy="970873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5CAF">
                    <a:alpha val="100000"/>
                  </a:srgbClr>
                </a:gs>
                <a:gs pos="100000">
                  <a:srgbClr val="0E163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81256" y="-1632328"/>
            <a:ext cx="8733702" cy="873370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01216" y="4332639"/>
            <a:ext cx="7985256" cy="79852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E1630">
                    <a:alpha val="100000"/>
                  </a:srgbClr>
                </a:gs>
                <a:gs pos="100000">
                  <a:srgbClr val="435C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02190" y="4733613"/>
            <a:ext cx="7183309" cy="718330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-1375369" y="5511049"/>
            <a:ext cx="9551902" cy="9551902"/>
          </a:xfrm>
          <a:custGeom>
            <a:avLst/>
            <a:gdLst/>
            <a:ahLst/>
            <a:cxnLst/>
            <a:rect l="l" t="t" r="r" b="b"/>
            <a:pathLst>
              <a:path w="9551902" h="9551902">
                <a:moveTo>
                  <a:pt x="0" y="0"/>
                </a:moveTo>
                <a:lnTo>
                  <a:pt x="9551902" y="0"/>
                </a:lnTo>
                <a:lnTo>
                  <a:pt x="9551902" y="9551902"/>
                </a:lnTo>
                <a:lnTo>
                  <a:pt x="0" y="9551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>
            <a:off x="8587603" y="861892"/>
            <a:ext cx="329276" cy="713878"/>
          </a:xfrm>
          <a:custGeom>
            <a:avLst/>
            <a:gdLst/>
            <a:ahLst/>
            <a:cxnLst/>
            <a:rect l="l" t="t" r="r" b="b"/>
            <a:pathLst>
              <a:path w="329276" h="713878">
                <a:moveTo>
                  <a:pt x="0" y="0"/>
                </a:moveTo>
                <a:lnTo>
                  <a:pt x="329276" y="0"/>
                </a:lnTo>
                <a:lnTo>
                  <a:pt x="329276" y="713878"/>
                </a:lnTo>
                <a:lnTo>
                  <a:pt x="0" y="7138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8176533" y="1471899"/>
            <a:ext cx="242464" cy="525667"/>
          </a:xfrm>
          <a:custGeom>
            <a:avLst/>
            <a:gdLst/>
            <a:ahLst/>
            <a:cxnLst/>
            <a:rect l="l" t="t" r="r" b="b"/>
            <a:pathLst>
              <a:path w="242464" h="525667">
                <a:moveTo>
                  <a:pt x="0" y="0"/>
                </a:moveTo>
                <a:lnTo>
                  <a:pt x="242464" y="0"/>
                </a:lnTo>
                <a:lnTo>
                  <a:pt x="242464" y="525667"/>
                </a:lnTo>
                <a:lnTo>
                  <a:pt x="0" y="525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026176" y="3926524"/>
            <a:ext cx="633911" cy="1374333"/>
          </a:xfrm>
          <a:custGeom>
            <a:avLst/>
            <a:gdLst/>
            <a:ahLst/>
            <a:cxnLst/>
            <a:rect l="l" t="t" r="r" b="b"/>
            <a:pathLst>
              <a:path w="633911" h="1374333">
                <a:moveTo>
                  <a:pt x="0" y="0"/>
                </a:moveTo>
                <a:lnTo>
                  <a:pt x="633911" y="0"/>
                </a:lnTo>
                <a:lnTo>
                  <a:pt x="633911" y="1374332"/>
                </a:lnTo>
                <a:lnTo>
                  <a:pt x="0" y="1374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9465471" y="8509573"/>
            <a:ext cx="471491" cy="1022202"/>
          </a:xfrm>
          <a:custGeom>
            <a:avLst/>
            <a:gdLst/>
            <a:ahLst/>
            <a:cxnLst/>
            <a:rect l="l" t="t" r="r" b="b"/>
            <a:pathLst>
              <a:path w="471491" h="1022202">
                <a:moveTo>
                  <a:pt x="0" y="0"/>
                </a:moveTo>
                <a:lnTo>
                  <a:pt x="471491" y="0"/>
                </a:lnTo>
                <a:lnTo>
                  <a:pt x="471491" y="1022202"/>
                </a:lnTo>
                <a:lnTo>
                  <a:pt x="0" y="1022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761355" y="3974014"/>
            <a:ext cx="10017002" cy="104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7"/>
              </a:lnSpc>
              <a:spcBef>
                <a:spcPct val="0"/>
              </a:spcBef>
            </a:pPr>
            <a:r>
              <a:rPr lang="en-US" sz="6034" b="1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旅客通關制度探討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1630">
                <a:alpha val="100000"/>
              </a:srgbClr>
            </a:gs>
            <a:gs pos="100000">
              <a:srgbClr val="435CA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08064" y="-3965159"/>
            <a:ext cx="9551902" cy="9551902"/>
          </a:xfrm>
          <a:custGeom>
            <a:avLst/>
            <a:gdLst/>
            <a:ahLst/>
            <a:cxnLst/>
            <a:rect l="l" t="t" r="r" b="b"/>
            <a:pathLst>
              <a:path w="9551902" h="9551902">
                <a:moveTo>
                  <a:pt x="0" y="0"/>
                </a:moveTo>
                <a:lnTo>
                  <a:pt x="9551903" y="0"/>
                </a:lnTo>
                <a:lnTo>
                  <a:pt x="9551903" y="9551903"/>
                </a:lnTo>
                <a:lnTo>
                  <a:pt x="0" y="9551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3449362" flipV="1">
            <a:off x="-2854706" y="3629793"/>
            <a:ext cx="14636372" cy="9154386"/>
          </a:xfrm>
          <a:custGeom>
            <a:avLst/>
            <a:gdLst/>
            <a:ahLst/>
            <a:cxnLst/>
            <a:rect l="l" t="t" r="r" b="b"/>
            <a:pathLst>
              <a:path w="14636372" h="9154386">
                <a:moveTo>
                  <a:pt x="0" y="9154385"/>
                </a:moveTo>
                <a:lnTo>
                  <a:pt x="14636372" y="9154385"/>
                </a:lnTo>
                <a:lnTo>
                  <a:pt x="14636372" y="0"/>
                </a:lnTo>
                <a:lnTo>
                  <a:pt x="0" y="0"/>
                </a:lnTo>
                <a:lnTo>
                  <a:pt x="0" y="9154385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8465981" y="1785850"/>
            <a:ext cx="8793319" cy="3888663"/>
            <a:chOff x="0" y="0"/>
            <a:chExt cx="2315936" cy="10241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15936" cy="1024175"/>
            </a:xfrm>
            <a:custGeom>
              <a:avLst/>
              <a:gdLst/>
              <a:ahLst/>
              <a:cxnLst/>
              <a:rect l="l" t="t" r="r" b="b"/>
              <a:pathLst>
                <a:path w="2315936" h="1024175">
                  <a:moveTo>
                    <a:pt x="44572" y="0"/>
                  </a:moveTo>
                  <a:lnTo>
                    <a:pt x="2271364" y="0"/>
                  </a:lnTo>
                  <a:cubicBezTo>
                    <a:pt x="2283185" y="0"/>
                    <a:pt x="2294522" y="4696"/>
                    <a:pt x="2302881" y="13055"/>
                  </a:cubicBezTo>
                  <a:cubicBezTo>
                    <a:pt x="2311240" y="21414"/>
                    <a:pt x="2315936" y="32751"/>
                    <a:pt x="2315936" y="44572"/>
                  </a:cubicBezTo>
                  <a:lnTo>
                    <a:pt x="2315936" y="979603"/>
                  </a:lnTo>
                  <a:cubicBezTo>
                    <a:pt x="2315936" y="991424"/>
                    <a:pt x="2311240" y="1002761"/>
                    <a:pt x="2302881" y="1011120"/>
                  </a:cubicBezTo>
                  <a:cubicBezTo>
                    <a:pt x="2294522" y="1019479"/>
                    <a:pt x="2283185" y="1024175"/>
                    <a:pt x="2271364" y="1024175"/>
                  </a:cubicBezTo>
                  <a:lnTo>
                    <a:pt x="44572" y="1024175"/>
                  </a:lnTo>
                  <a:cubicBezTo>
                    <a:pt x="32751" y="1024175"/>
                    <a:pt x="21414" y="1019479"/>
                    <a:pt x="13055" y="1011120"/>
                  </a:cubicBezTo>
                  <a:cubicBezTo>
                    <a:pt x="4696" y="1002761"/>
                    <a:pt x="0" y="991424"/>
                    <a:pt x="0" y="979603"/>
                  </a:cubicBezTo>
                  <a:lnTo>
                    <a:pt x="0" y="44572"/>
                  </a:lnTo>
                  <a:cubicBezTo>
                    <a:pt x="0" y="32751"/>
                    <a:pt x="4696" y="21414"/>
                    <a:pt x="13055" y="13055"/>
                  </a:cubicBezTo>
                  <a:cubicBezTo>
                    <a:pt x="21414" y="4696"/>
                    <a:pt x="32751" y="0"/>
                    <a:pt x="44572" y="0"/>
                  </a:cubicBezTo>
                  <a:close/>
                </a:path>
              </a:pathLst>
            </a:custGeom>
            <a:ln w="476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15936" cy="1062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764720" y="1919203"/>
            <a:ext cx="597478" cy="597478"/>
          </a:xfrm>
          <a:custGeom>
            <a:avLst/>
            <a:gdLst/>
            <a:ahLst/>
            <a:cxnLst/>
            <a:rect l="l" t="t" r="r" b="b"/>
            <a:pathLst>
              <a:path w="597478" h="597478">
                <a:moveTo>
                  <a:pt x="0" y="0"/>
                </a:moveTo>
                <a:lnTo>
                  <a:pt x="597477" y="0"/>
                </a:lnTo>
                <a:lnTo>
                  <a:pt x="597477" y="597478"/>
                </a:lnTo>
                <a:lnTo>
                  <a:pt x="0" y="597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1382597" y="1383959"/>
            <a:ext cx="6161765" cy="3543304"/>
            <a:chOff x="0" y="0"/>
            <a:chExt cx="954619" cy="5489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4619" cy="548951"/>
            </a:xfrm>
            <a:custGeom>
              <a:avLst/>
              <a:gdLst/>
              <a:ahLst/>
              <a:cxnLst/>
              <a:rect l="l" t="t" r="r" b="b"/>
              <a:pathLst>
                <a:path w="954619" h="548951">
                  <a:moveTo>
                    <a:pt x="71617" y="0"/>
                  </a:moveTo>
                  <a:lnTo>
                    <a:pt x="883001" y="0"/>
                  </a:lnTo>
                  <a:cubicBezTo>
                    <a:pt x="922554" y="0"/>
                    <a:pt x="954619" y="32064"/>
                    <a:pt x="954619" y="71617"/>
                  </a:cubicBezTo>
                  <a:lnTo>
                    <a:pt x="954619" y="477333"/>
                  </a:lnTo>
                  <a:cubicBezTo>
                    <a:pt x="954619" y="496327"/>
                    <a:pt x="947073" y="514543"/>
                    <a:pt x="933642" y="527974"/>
                  </a:cubicBezTo>
                  <a:cubicBezTo>
                    <a:pt x="920212" y="541405"/>
                    <a:pt x="901995" y="548951"/>
                    <a:pt x="883001" y="548951"/>
                  </a:cubicBezTo>
                  <a:lnTo>
                    <a:pt x="71617" y="548951"/>
                  </a:lnTo>
                  <a:cubicBezTo>
                    <a:pt x="32064" y="548951"/>
                    <a:pt x="0" y="516886"/>
                    <a:pt x="0" y="477333"/>
                  </a:cubicBezTo>
                  <a:lnTo>
                    <a:pt x="0" y="71617"/>
                  </a:lnTo>
                  <a:cubicBezTo>
                    <a:pt x="0" y="52623"/>
                    <a:pt x="7545" y="34407"/>
                    <a:pt x="20976" y="20976"/>
                  </a:cubicBezTo>
                  <a:cubicBezTo>
                    <a:pt x="34407" y="7545"/>
                    <a:pt x="52623" y="0"/>
                    <a:pt x="71617" y="0"/>
                  </a:cubicBezTo>
                  <a:close/>
                </a:path>
              </a:pathLst>
            </a:custGeom>
            <a:blipFill>
              <a:blip r:embed="rId6"/>
              <a:stretch>
                <a:fillRect t="-7603" b="-760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82597" y="5276775"/>
            <a:ext cx="6161765" cy="3717662"/>
            <a:chOff x="0" y="0"/>
            <a:chExt cx="954619" cy="575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4619" cy="575963"/>
            </a:xfrm>
            <a:custGeom>
              <a:avLst/>
              <a:gdLst/>
              <a:ahLst/>
              <a:cxnLst/>
              <a:rect l="l" t="t" r="r" b="b"/>
              <a:pathLst>
                <a:path w="954619" h="575963">
                  <a:moveTo>
                    <a:pt x="71617" y="0"/>
                  </a:moveTo>
                  <a:lnTo>
                    <a:pt x="883001" y="0"/>
                  </a:lnTo>
                  <a:cubicBezTo>
                    <a:pt x="922554" y="0"/>
                    <a:pt x="954619" y="32064"/>
                    <a:pt x="954619" y="71617"/>
                  </a:cubicBezTo>
                  <a:lnTo>
                    <a:pt x="954619" y="504346"/>
                  </a:lnTo>
                  <a:cubicBezTo>
                    <a:pt x="954619" y="523340"/>
                    <a:pt x="947073" y="541556"/>
                    <a:pt x="933642" y="554987"/>
                  </a:cubicBezTo>
                  <a:cubicBezTo>
                    <a:pt x="920212" y="568418"/>
                    <a:pt x="901995" y="575963"/>
                    <a:pt x="883001" y="575963"/>
                  </a:cubicBezTo>
                  <a:lnTo>
                    <a:pt x="71617" y="575963"/>
                  </a:lnTo>
                  <a:cubicBezTo>
                    <a:pt x="52623" y="575963"/>
                    <a:pt x="34407" y="568418"/>
                    <a:pt x="20976" y="554987"/>
                  </a:cubicBezTo>
                  <a:cubicBezTo>
                    <a:pt x="7545" y="541556"/>
                    <a:pt x="0" y="523340"/>
                    <a:pt x="0" y="504346"/>
                  </a:cubicBezTo>
                  <a:lnTo>
                    <a:pt x="0" y="71617"/>
                  </a:lnTo>
                  <a:cubicBezTo>
                    <a:pt x="0" y="52623"/>
                    <a:pt x="7545" y="34407"/>
                    <a:pt x="20976" y="20976"/>
                  </a:cubicBezTo>
                  <a:cubicBezTo>
                    <a:pt x="34407" y="7545"/>
                    <a:pt x="52623" y="0"/>
                    <a:pt x="71617" y="0"/>
                  </a:cubicBezTo>
                  <a:close/>
                </a:path>
              </a:pathLst>
            </a:custGeom>
            <a:blipFill>
              <a:blip r:embed="rId7"/>
              <a:stretch>
                <a:fillRect t="-4683" b="-468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764720" y="378073"/>
            <a:ext cx="7834651" cy="11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5"/>
              </a:lnSpc>
              <a:spcBef>
                <a:spcPct val="0"/>
              </a:spcBef>
            </a:pPr>
            <a:r>
              <a:rPr lang="en-US" sz="6832" b="1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智慧海關與科技應用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2197" y="2478581"/>
            <a:ext cx="7683517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探討臉部辨識、虹膜掃描等技術在邊境控管的應用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4720" y="1965212"/>
            <a:ext cx="8729783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生物辨識與智慧通關（e-Gates / Smart Entry）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62197" y="3107986"/>
            <a:ext cx="7683517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案例對象： 新加坡樟宜機場「FAST」無證件通關、美國CBP「Simplified Arrival」人臉辨識系統、台灣海關 AI X光輔助檢查系統、阿聯酋杜拜國際機場「Smart Gates」與「Smart Tunnel（智慧隧道)、歐盟：出入境系統（Entry/Exit System, EES）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17" name="線上媒體 16" title="最快15秒可自動通關! 新加坡AI科技助陣免護照｜#寰宇新聞 @globalnewstw">
            <a:hlinkClick r:id="" action="ppaction://media"/>
            <a:extLst>
              <a:ext uri="{FF2B5EF4-FFF2-40B4-BE49-F238E27FC236}">
                <a16:creationId xmlns:a16="http://schemas.microsoft.com/office/drawing/2014/main" id="{773EB3FC-CE1D-2F81-FDB9-C91180C261D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9510111" y="5961796"/>
            <a:ext cx="7239000" cy="40870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1630">
                <a:alpha val="100000"/>
              </a:srgbClr>
            </a:gs>
            <a:gs pos="100000">
              <a:srgbClr val="435CA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01943" y="1181100"/>
            <a:ext cx="11506200" cy="8824411"/>
          </a:xfrm>
          <a:custGeom>
            <a:avLst/>
            <a:gdLst/>
            <a:ahLst/>
            <a:cxnLst/>
            <a:rect l="l" t="t" r="r" b="b"/>
            <a:pathLst>
              <a:path w="10720989" h="8292703">
                <a:moveTo>
                  <a:pt x="0" y="0"/>
                </a:moveTo>
                <a:lnTo>
                  <a:pt x="10720990" y="0"/>
                </a:lnTo>
                <a:lnTo>
                  <a:pt x="10720990" y="8292703"/>
                </a:lnTo>
                <a:lnTo>
                  <a:pt x="0" y="8292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9" t="-400" r="-559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983027" y="281489"/>
            <a:ext cx="10425116" cy="74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5"/>
              </a:lnSpc>
              <a:spcBef>
                <a:spcPct val="0"/>
              </a:spcBef>
            </a:pPr>
            <a:r>
              <a:rPr lang="en-US" sz="4332" b="1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各國智慧海關與科技應用綜合比較表</a:t>
            </a:r>
          </a:p>
        </p:txBody>
      </p:sp>
      <p:sp>
        <p:nvSpPr>
          <p:cNvPr id="4" name="Freeform 4"/>
          <p:cNvSpPr/>
          <p:nvPr/>
        </p:nvSpPr>
        <p:spPr>
          <a:xfrm rot="3449362" flipV="1">
            <a:off x="10844869" y="117720"/>
            <a:ext cx="14636372" cy="9154386"/>
          </a:xfrm>
          <a:custGeom>
            <a:avLst/>
            <a:gdLst/>
            <a:ahLst/>
            <a:cxnLst/>
            <a:rect l="l" t="t" r="r" b="b"/>
            <a:pathLst>
              <a:path w="14636372" h="9154386">
                <a:moveTo>
                  <a:pt x="0" y="9154385"/>
                </a:moveTo>
                <a:lnTo>
                  <a:pt x="14636373" y="9154385"/>
                </a:lnTo>
                <a:lnTo>
                  <a:pt x="14636373" y="0"/>
                </a:lnTo>
                <a:lnTo>
                  <a:pt x="0" y="0"/>
                </a:lnTo>
                <a:lnTo>
                  <a:pt x="0" y="9154385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3449362" flipV="1">
            <a:off x="-6164563" y="3881826"/>
            <a:ext cx="14636372" cy="9154386"/>
          </a:xfrm>
          <a:custGeom>
            <a:avLst/>
            <a:gdLst/>
            <a:ahLst/>
            <a:cxnLst/>
            <a:rect l="l" t="t" r="r" b="b"/>
            <a:pathLst>
              <a:path w="14636372" h="9154386">
                <a:moveTo>
                  <a:pt x="0" y="9154386"/>
                </a:moveTo>
                <a:lnTo>
                  <a:pt x="14636373" y="9154386"/>
                </a:lnTo>
                <a:lnTo>
                  <a:pt x="14636373" y="0"/>
                </a:lnTo>
                <a:lnTo>
                  <a:pt x="0" y="0"/>
                </a:lnTo>
                <a:lnTo>
                  <a:pt x="0" y="9154386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</Words>
  <Application>Microsoft Office PowerPoint</Application>
  <PresentationFormat>自訂</PresentationFormat>
  <Paragraphs>6</Paragraphs>
  <Slides>3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Calibri</vt:lpstr>
      <vt:lpstr>Canva Sans</vt:lpstr>
      <vt:lpstr>Neue Machina Ultra-Bold</vt:lpstr>
      <vt:lpstr>Arial</vt:lpstr>
      <vt:lpstr>Office Theme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旅客通關制度探討</dc:title>
  <dc:creator>Sophia Su</dc:creator>
  <cp:lastModifiedBy>Sophia Su</cp:lastModifiedBy>
  <cp:revision>2</cp:revision>
  <dcterms:created xsi:type="dcterms:W3CDTF">2006-08-16T00:00:00Z</dcterms:created>
  <dcterms:modified xsi:type="dcterms:W3CDTF">2026-09-02T15:34:03Z</dcterms:modified>
  <dc:identifier>DAHUDJrUsZY</dc:identifier>
</cp:coreProperties>
</file>